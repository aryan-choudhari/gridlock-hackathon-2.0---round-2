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1400" b="1">
                <a:solidFill>
                  <a:srgbClr val="6366F1"/>
                </a:solidFill>
                <a:latin typeface="Segoe UI"/>
              </a:defRPr>
            </a:pPr>
            <a:r>
              <a:t>Flipkart GridLock Hackathon 2.0 — Problem Statement 2</a:t>
            </a:r>
          </a:p>
          <a:p>
            <a:pPr algn="ctr">
              <a:spcAft>
                <a:spcPts val="1200"/>
              </a:spcAft>
              <a:defRPr sz="4400" b="1">
                <a:solidFill>
                  <a:srgbClr val="F1F5F9"/>
                </a:solidFill>
                <a:latin typeface="Segoe UI"/>
              </a:defRPr>
            </a:pPr>
            <a:r>
              <a:t>Event-Driven Congestion Intelligence System</a:t>
            </a:r>
          </a:p>
          <a:p>
            <a:pPr algn="ctr">
              <a:spcAft>
                <a:spcPts val="36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AI-Powered Manpower, Barricading &amp; Diversion Planning for Bengaluru</a:t>
            </a:r>
          </a:p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Team: AryanAyush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02 —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457200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Operational Gaps in City Traffic Management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Localized traffic breakdowns are created by political rallies, festivals, sports events, construction, and sudden gatherings.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Event impact is NOT quantified in advance — today, there is no predictive modeling of congestion levels prior to incidents.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Resource deployment is experience-driven — decisions on barricading and staffing rely on intuitive estimations instead of hard metrics.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No post-event learning loop — past event details and resolution timelines are not analyzed to improve future responses.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120640" cy="457200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73152" cy="457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The Technical Challenge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How can historical and real-time event logs be utilized to accurately forecast event-driven traffic disruptions, and dynamically recommend optimal manpower deployments, physical barricading setups, and corridor-level traffic diversion dictionaries?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03 —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Analysis conducted on historical logs from the Bengaluru Traffic Police (BTP) Astram Platform (November 2023 - April 2024)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164592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8,173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Total Registered Incidents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468880" cy="164592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Segoe UI"/>
              </a:defRPr>
            </a:pPr>
            <a:r>
              <a:t>94.3%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Unplanned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468880" cy="164592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676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Road Closures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011680"/>
            <a:ext cx="2468880" cy="164592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10312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5.7%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Pre-Planned Public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2468880" cy="164592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Segoe UI"/>
              </a:defRPr>
            </a:pPr>
            <a:r>
              <a:t>37+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Monitored Road Corridors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931920"/>
            <a:ext cx="2468880" cy="164592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0233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8BFA"/>
                </a:solidFill>
                <a:latin typeface="Segoe UI"/>
              </a:defRPr>
            </a:pPr>
            <a:r>
              <a:t>200+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Mapped Junction 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2468880" cy="164592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0233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Operational Traffic Zones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931920"/>
            <a:ext cx="2468880" cy="164592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40233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Segoe UI"/>
              </a:defRPr>
            </a:pPr>
            <a:r>
              <a:t>5 Mo.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Data Gathering Span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Key Insights from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04 —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011680" cy="118872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Segoe UI"/>
              </a:defRPr>
            </a:pPr>
            <a:r>
              <a:t>60%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Cause: Breakdowns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280160"/>
            <a:ext cx="2011680" cy="118872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3716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9-11 AM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Morning Rush Peak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280160"/>
            <a:ext cx="2011680" cy="118872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  <a:latin typeface="Segoe UI"/>
              </a:defRPr>
            </a:pPr>
            <a:r>
              <a:t>5-9 PM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Evening Rush Peak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280160"/>
            <a:ext cx="2011680" cy="118872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3716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Thursday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Busiest Weekday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280160"/>
            <a:ext cx="1947672" cy="118872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371600"/>
            <a:ext cx="1947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Segoe UI"/>
              </a:defRPr>
            </a:pPr>
            <a:r>
              <a:t>Sunday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Quietest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5120640" cy="329184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8036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🛣️ Hotspot Corridors (High Density)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Mysore Road: 743 events (The most congested corridor with a high rate of commercial vehicle breakdowns).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Bellary Road: 610 events (High incidence of VIP movements, events, and transit processions).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Tumkur Road: 458 events (Mainly industrial vehicles, potholes, and construction lane-blocks).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743200"/>
            <a:ext cx="5120640" cy="329184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73152" cy="3291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88036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📅 Seasonal &amp; Temporal Patterns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March 2024 logged a peak volume of 1,766 events, driven by public festivals and regional processions.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Water logging and tree falls show strong seasonal correlation during monsoon shoulder periods.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Congestion behaves cascades: local junction breakdowns cause adjacent queue lengths to double within 20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05 —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1371600"/>
            <a:ext cx="5486400" cy="10972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  <a:latin typeface="Segoe UI"/>
              </a:defRPr>
            </a:pPr>
            <a:r>
              <a:t>⚡ Central Impact Prediction Engine</a:t>
            </a:r>
            <a:br/>
            <a:r>
              <a:t>(BSS Score &amp; Resource Requisition Model)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3291840" cy="292608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73152" cy="2926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🔀 Pillar 1: Diversion Dictionary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Geographic network graph of junctions with pre-computed edge traversal costs. Instantly identifies alternate corridors with O(1) route retrieval speed.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200400"/>
            <a:ext cx="3291840" cy="292608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3200400"/>
            <a:ext cx="73152" cy="2926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33756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🚧 Pillar 2: Barricading Plan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Dynamic physical layout layouts calculated using the weighted multi-factor BSS score. Recommends four tiers of equipment manifest from Warning to Full Closures.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200400"/>
            <a:ext cx="3291840" cy="292608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3200400"/>
            <a:ext cx="73152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33756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👮 Pillar 3: Manpower Allocation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Staffing allocation using base event configurations combined with BSS multipliers. Recommends specific officer counts, shifts, and tactical field roles.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Pillar 1 — Quickest Diversion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06 — Pillar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943600" cy="457200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4572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Graph-Based Route Optimization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Models Bengaluru road layout using 294 junctions as nodes and 2,474 connected routes as edges.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Edge weights calculated using real-world Haversine distance, dynamically scaled based on historical congestion indexes.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Spatial connectivity threshold set at &lt;= 3.5 km for same-corridor junctions, and &lt;= 2.0 km for cross-corridor links.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Features instant O(1) query response to identify alternative corridors when junctions are blocked.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Outputs the estimated detour distance in kilometers and calculates expected commute delay time (averaging 2.5 min/km).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371600"/>
            <a:ext cx="4297680" cy="457200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371600"/>
            <a:ext cx="73152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50876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Topology Database Features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By keeping the graph lightweight and pre-computable, GridLock 2.0 avoids expensive live server route searches, allowing immediate offline deployment in field consoles.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017520"/>
            <a:ext cx="1737360" cy="109728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1089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  <a:latin typeface="Segoe UI"/>
              </a:defRPr>
            </a:pPr>
            <a:r>
              <a:t>294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Junction Nodes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3017520"/>
            <a:ext cx="1737360" cy="109728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31089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Segoe UI"/>
              </a:defRPr>
            </a:pPr>
            <a:r>
              <a:t>2,474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Graph Edges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389120"/>
            <a:ext cx="3657600" cy="1097280"/>
          </a:xfrm>
          <a:prstGeom prst="roundRect">
            <a:avLst/>
          </a:prstGeom>
          <a:solidFill>
            <a:srgbClr val="1A1F2E"/>
          </a:solidFill>
          <a:ln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480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O(1) Access</a:t>
            </a:r>
          </a:p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Route Recommendation Speed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Pillar 2 — Barricade Severity Score (BSS)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07 — Pillar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4A3B8"/>
                </a:solidFill>
                <a:latin typeface="Segoe UI"/>
              </a:defRPr>
            </a:pPr>
            <a:r>
              <a:t>Mathematical Formulation for Barricade Severity Score (BSS):</a:t>
            </a:r>
          </a:p>
          <a:p>
            <a:pPr>
              <a:spcBef>
                <a:spcPts val="600"/>
              </a:spcBef>
              <a:defRPr sz="1400" b="1">
                <a:solidFill>
                  <a:srgbClr val="6366F1"/>
                </a:solidFill>
                <a:latin typeface="Consolas"/>
              </a:defRPr>
            </a:pPr>
            <a:r>
              <a:t>BSS = 0.20×Cause + 0.12×Type + 0.22×Closure + 0.14×Priority + 0.14×CorridorImportance + 0.10×TimeOfDay + 0.08×Duration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3870655"/>
                <a:gridCol w="3657600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Severity Level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BSS Bounds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Operational Redirection Action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Equipment Deployment Manifest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🔴 Full Closure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&gt;= 0.80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Jersey barriers; complete road closure; multi-point diversion setups.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Jersey barriers x8, Metal barricades x12, Cones x20, Signs, Blinkers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🟠 Partial Closure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0.60 - 0.79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Controlled single-lane restrictions; moderate speed limit reductions.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Metal barricades x6, Cones x15, Sign boards x4, Blinkers x4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A78BFA"/>
                          </a:solidFill>
                          <a:latin typeface="Segoe UI"/>
                        </a:defRPr>
                      </a:pPr>
                      <a:r>
                        <a:t>🟡 Warning Zone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0.40 - 0.59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Pre-warning message signs; caution lights; safety marshals present.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Sign boards x4, Warning blinkers x6, Reflective tape x50m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🟢 Monitor Only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&lt; 0.40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Regular CCTV camera tracking and routine security vehicle checks.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Walkie-talkies x2, Incident log record entry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Pillar 3 — Manpower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08 — Pillar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4A3B8"/>
                </a:solidFill>
                <a:latin typeface="Segoe UI"/>
              </a:defRPr>
            </a:pPr>
            <a:r>
              <a:t>Mathematical Formulation for Staffing Requirements:</a:t>
            </a:r>
          </a:p>
          <a:p>
            <a:pPr>
              <a:spcBef>
                <a:spcPts val="600"/>
              </a:spcBef>
              <a:defRPr sz="1400" b="1">
                <a:solidFill>
                  <a:srgbClr val="10B981"/>
                </a:solidFill>
                <a:latin typeface="Consolas"/>
              </a:defRPr>
            </a:pPr>
            <a:r>
              <a:t>Officers Per Shift = BaseCount(Cause) x (1.0 + 2.5 x BSS) x DurationFactor x ClosureFactor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Event Cause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Base Officer Count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Protest / Rally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12 Officers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Procession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10 Officers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Public Event / Festival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8 Officers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VIP Convoy Movement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6 Officers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Construction Site / Blockage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4 Officers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217920" y="2011680"/>
            <a:ext cx="5120640" cy="192024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🗺️ Zone-Based Deployment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Historical event density models are calculated for all 10 traffic zones.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Automatically moves standby officers to zones encountering high BSS events.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206240"/>
            <a:ext cx="5120640" cy="192024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4206240"/>
            <a:ext cx="73152" cy="1920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3434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⏰ Rotational Shift Planning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Standard 8-hour shift cycles automatically calculated for operations.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Schedules transition overlaps during morning and evening rush hour shifts.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System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09 —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Sequence of operational events from incident reporting to control room display and post-event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828800" cy="11887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  <a:latin typeface="Segoe UI"/>
              </a:defRPr>
            </a:pPr>
            <a:r>
              <a:t>📡  Incident</a:t>
            </a:r>
            <a:br/>
            <a:r>
              <a:t>Reported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377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011680"/>
            <a:ext cx="1828800" cy="11887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  <a:latin typeface="Segoe UI"/>
              </a:defRPr>
            </a:pPr>
            <a:r>
              <a:t>🔀  Classify:</a:t>
            </a:r>
            <a:br/>
            <a:r>
              <a:t>Plan / Unplan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77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011680"/>
            <a:ext cx="1828800" cy="11887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  <a:latin typeface="Segoe UI"/>
              </a:defRPr>
            </a:pPr>
            <a:r>
              <a:t>📊  Feature</a:t>
            </a:r>
            <a:br/>
            <a:r>
              <a:t>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377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199" y="2011680"/>
            <a:ext cx="1828800" cy="11887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  <a:latin typeface="Segoe UI"/>
              </a:defRPr>
            </a:pPr>
            <a:r>
              <a:t>🎯  Calculate</a:t>
            </a:r>
            <a:br/>
            <a:r>
              <a:t>BSS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999" y="23774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011680"/>
            <a:ext cx="1828800" cy="11887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  <a:latin typeface="Segoe UI"/>
              </a:defRPr>
            </a:pPr>
            <a:r>
              <a:t>🚧  Identify</a:t>
            </a:r>
            <a:br/>
            <a:r>
              <a:t>Barricade Tier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1828800" cy="11887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  <a:latin typeface="Segoe UI"/>
              </a:defRPr>
            </a:pPr>
            <a:r>
              <a:t>🗺️  Lookup</a:t>
            </a:r>
            <a:br/>
            <a:r>
              <a:t>Diversions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4805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114800"/>
            <a:ext cx="1828800" cy="11887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  <a:latin typeface="Segoe UI"/>
              </a:defRPr>
            </a:pPr>
            <a:r>
              <a:t>👮  Allocate</a:t>
            </a:r>
            <a:br/>
            <a:r>
              <a:t>Manpower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4805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4114800"/>
            <a:ext cx="1828800" cy="11887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  <a:latin typeface="Segoe UI"/>
              </a:defRPr>
            </a:pPr>
            <a:r>
              <a:t>📋  Generate</a:t>
            </a:r>
            <a:br/>
            <a:r>
              <a:t>Unified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4805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199" y="4114800"/>
            <a:ext cx="1828800" cy="11887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  <a:latin typeface="Segoe UI"/>
              </a:defRPr>
            </a:pPr>
            <a:r>
              <a:t>📱  Dashboard</a:t>
            </a:r>
            <a:br/>
            <a:r>
              <a:t>Console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44805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4114800"/>
            <a:ext cx="1828800" cy="1188720"/>
          </a:xfrm>
          <a:prstGeom prst="roundRect">
            <a:avLst/>
          </a:prstGeom>
          <a:solidFill>
            <a:srgbClr val="1A1F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  <a:latin typeface="Segoe UI"/>
              </a:defRPr>
            </a:pPr>
            <a:r>
              <a:t>🔄  Feedback</a:t>
            </a:r>
            <a:br/>
            <a:r>
              <a:t>Learning Loop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solidFill>
            <a:srgbClr val="1A1F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End-to-End Operational Pipeline: Automatically translates raw input parameters into actionable resources and alternate maps.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Live Prototype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10 —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Fully interactive 6-page Single Page Application (SPA) loading the 8,173 preprocessed records: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383280" cy="182880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📊 Dashboard Overview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Visualizes BTP network load with geographical event heatmaps and 5 interactive statistics charts.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383280" cy="182880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73152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🎯 Impact Predictor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Accepts manual parameters or uses the Simulator to forecast BSS scores and generate plans.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383280" cy="182880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73152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916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🔀 Diversion Planner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Displays routing graphs and recommends alternative corridors when roads are blocked.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3383280" cy="182880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73152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🚧 Barricading Plan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Recommends specific physical equipment manifests required for zone-wide sectors.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657600"/>
            <a:ext cx="3383280" cy="182880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657600"/>
            <a:ext cx="73152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7947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👮 Manpower Setup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Recommends shift plans, total officer counts, and distributes roles based on incident BSS.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657600"/>
            <a:ext cx="3383280" cy="182880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657600"/>
            <a:ext cx="73152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79476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🔍 Data Explorer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Supports quick querying, filters, and pagination across all 8,173 historical records.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9788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Engine Core: Vanilla HTML5 / CSS3 / ES6+ JS  |  Charts: Chart.js (v4.4.0)  |  Maps: Leaflet.js (v1.9.4)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Operational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11 —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210312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2103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👨‍✈️ Shift Commander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Uses the Dashboard and Data Explorer for real-time situational awareness, geographical monitoring via heatmap, and event auditing through the data explorer.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120640" cy="210312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73152" cy="2103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📋 Strategic Planners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Preparation for scheduled processions, public gatherings, and VIP runs; uses the Simulator to stress-test capacity limits.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5120640" cy="210312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73152" cy="2103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🚚 Logistics &amp; Manifests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Zone-based sorting allows hardware delivery managers to load trucks with the exact count of Jersey barriers, cones, and caution tape recommended.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840480"/>
            <a:ext cx="5120640" cy="210312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840480"/>
            <a:ext cx="73152" cy="2103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977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🚨 Field Response Officers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Calculates instant alternative corridors, average detour distance, and delays to redirect motorist flow at key junctions.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Simulator &amp; Calculator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12 — Methodologies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219456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2194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Barricade Severity Score (BSS)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Combines 7 weighted input factors including cause type, peaks, and priority.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Translates into 4 operational tiers, dynamically updating the CSS styles.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Time coefficient increases score for events overlapping peak rush hours.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5120640" cy="219456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73152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Manpower Calculator Engine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Base count is multiplied by a (1.0 + 2.5 x BSS) severity scaling factor.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Adds penalties for active road closures (+40%) and long durations (+50%).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Role splits: 40% Control, 25% Crowd, 20% Emergency, 15% Surveillance.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120640" cy="466344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73152" cy="4663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Graph Routing Engine (Dijkstra-ready)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Builds a local network adjacency list from coordinates of 294 junctions.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Calculates Haversine distance for road connection edges.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Implements dynamic node pruning to exclude currently blocked corridors.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Calculates the shortest paths via adjacent corridors to recommend bypasses.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Estimates extra travel time based on computed detour distances.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Leverages pre-computed edge states for extremely fast client query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Scalability &amp; Real-World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13 —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43891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Prototype vs City-Wide Deployment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Current: Offline analytics engine parsing 8,173 events over 5 months.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Current: Desktop-based SPA with mock inputs and static graph tables.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At Scale: Annual ingestion of 100,000+ events from live BTP Astram APIs.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At Scale: Integration of Google Maps Traffic API for live congestion weights.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At Scale: Deep learning CV analysis of CCTV camera feeds for crowd density.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At Scale: Native mobile push alerts to direct field officers automatically.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120640" cy="201168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73152" cy="2011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🤖 Machine Learning Forecasting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Transition BSS score calculation to a trained regression model (e.g. XGBoost/RandomForest) incorporating weather datasets, weekday indicators, and historical clearance rates.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840480"/>
            <a:ext cx="5120640" cy="201168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840480"/>
            <a:ext cx="73152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9776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📡 Adaptive Traffic Systems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Deploy IoT tilt-sensors on physical metal barricades to track displacement, and deploy city-wide traffic zone load balancing to prevent network-wide cascading congestion.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Segoe UI"/>
              </a:defRPr>
            </a:pPr>
            <a:r>
              <a:t>Impact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65760"/>
            <a:ext cx="2286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14 —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291840" cy="384048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3840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🏛️ For Traffic Police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Data-backed deployment decisions replace manual estimation.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Reduces resource waste and prevents officer fatigue.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Implements post-event audits for continuous model learning.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Standardizes equipment manifestations across zones.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291840" cy="384048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73152" cy="3840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👥 For Citizens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Faster distribution of alternate route recommendations.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Lowers commute delays around blocked corridors.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Reduces traffic queuing times near public events.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Implements proactive caution warnings for road conditions.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291840" cy="3840480"/>
          </a:xfrm>
          <a:prstGeom prst="rect">
            <a:avLst/>
          </a:prstGeom>
          <a:solidFill>
            <a:srgbClr val="1A1F2E"/>
          </a:solidFill>
          <a:ln w="19050">
            <a:solidFill>
              <a:srgbClr val="2D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73152" cy="3840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🏙️ For the City Economy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Optimizes resource usage of public safety equipment.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Routing models are city-agnostic and modular.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Reduces economic loss caused by gridlock delays.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 Establishes a solid data layer for smart city utilities.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solidFill>
            <a:srgbClr val="1A1F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Key Operational Transformation: Reactive Incident Policing  ⟶  Predictive Traffic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5400">
                <a:latin typeface="Segoe UI"/>
              </a:defRPr>
            </a:pPr>
            <a:r>
              <a:t>🙏</a:t>
            </a:r>
          </a:p>
          <a:p>
            <a:pPr algn="ctr">
              <a:spcAft>
                <a:spcPts val="800"/>
              </a:spcAft>
              <a:defRPr sz="4400" b="1">
                <a:solidFill>
                  <a:srgbClr val="F1F5F9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Aft>
                <a:spcPts val="28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Built for Bengaluru, Scalable for India</a:t>
            </a:r>
          </a:p>
          <a:p>
            <a:pPr algn="ctr">
              <a:spcAft>
                <a:spcPts val="2400"/>
              </a:spcAft>
              <a:defRPr sz="1400" b="1">
                <a:solidFill>
                  <a:srgbClr val="6366F1"/>
                </a:solidFill>
                <a:latin typeface="Segoe UI"/>
              </a:defRPr>
            </a:pPr>
            <a:r>
              <a:t>Team: AryanAyush</a:t>
            </a:r>
          </a:p>
          <a:p>
            <a:pPr algn="ctr">
              <a:defRPr sz="1200" b="1">
                <a:solidFill>
                  <a:srgbClr val="8B5CF6"/>
                </a:solidFill>
                <a:latin typeface="Segoe UI"/>
              </a:defRPr>
            </a:pPr>
            <a:r>
              <a:t>GridLock 2.0  •  Flipkart Grid  •  Bengaluru Traffic Police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